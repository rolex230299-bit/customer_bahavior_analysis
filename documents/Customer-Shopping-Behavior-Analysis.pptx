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Sora Light"/>
      <p:regular r:id="rId201314"/>
    </p:embeddedFont>
    <p:embeddedFont>
      <p:font typeface="Sora"/>
      <p:regular r:id="rId201315"/>
    </p:embeddedFont>
    <p:embeddedFont>
      <p:font typeface="Sora Semi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2410718"/>
            <a:ext cx="6355993" cy="118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31908" y="3869333"/>
            <a:ext cx="635599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Uncovering insights from 3,900 transactions across product categories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963910"/>
            <a:ext cx="6355993" cy="118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Dataset: 3,900 Transactions Analyzed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03794" y="2422525"/>
            <a:ext cx="3087709" cy="1934468"/>
          </a:xfrm>
          <a:prstGeom prst="roundRect">
            <a:avLst>
              <a:gd name="adj" fmla="val 3920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90618" y="2609354"/>
            <a:ext cx="2714061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18 Data Dimensions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390618" y="3014464"/>
            <a:ext cx="2714061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Customer demographics, purchase details, and shopping behavior captured across every transaction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471978" y="2422525"/>
            <a:ext cx="3087809" cy="1934468"/>
          </a:xfrm>
          <a:prstGeom prst="roundRect">
            <a:avLst>
              <a:gd name="adj" fmla="val 3920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58802" y="2609354"/>
            <a:ext cx="271416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4 Product Categories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58802" y="3014464"/>
            <a:ext cx="271416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Clothing, Accessories, Footwear, and Outerwear — the full retail spectrum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203794" y="4537472"/>
            <a:ext cx="6355993" cy="1356618"/>
          </a:xfrm>
          <a:prstGeom prst="roundRect">
            <a:avLst>
              <a:gd name="adj" fmla="val 5590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90618" y="4724301"/>
            <a:ext cx="598234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50 US Locations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390618" y="5129411"/>
            <a:ext cx="598234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Nationwide coverage with seasonal purchase patterns tracked across all regions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02146"/>
            <a:ext cx="10927878" cy="118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Revenue Split: Male Customers Drive </a:t>
            </a:r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DA1B2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68%</a:t>
            </a:r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 of Sales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08" y="2163862"/>
            <a:ext cx="5812089" cy="398889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760795" y="1960761"/>
            <a:ext cx="4935315" cy="4395093"/>
          </a:xfrm>
          <a:prstGeom prst="roundRect">
            <a:avLst>
              <a:gd name="adj" fmla="val 2958"/>
            </a:avLst>
          </a:prstGeom>
          <a:solidFill>
            <a:srgbClr val="F9D2D6"/>
          </a:solidFill>
          <a:ln/>
        </p:spPr>
      </p:sp>
      <p:sp>
        <p:nvSpPr>
          <p:cNvPr id="5" name="Text 2"/>
          <p:cNvSpPr/>
          <p:nvPr/>
        </p:nvSpPr>
        <p:spPr>
          <a:xfrm>
            <a:off x="6941269" y="2141240"/>
            <a:ext cx="4574366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Key Findings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941269" y="2618581"/>
            <a:ext cx="4574366" cy="1570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Male customers: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$157,890 total revenue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Female customers: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$75,191 total revenue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Significant opportunity to expand female customer engagement and close the revenue gap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609302"/>
            <a:ext cx="10927878" cy="118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Subscription Paradox: </a:t>
            </a:r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DA1B2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73%</a:t>
            </a:r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 Non-Subscribers Generate More Revenue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08" y="2271018"/>
            <a:ext cx="5243679" cy="3774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22457" y="2248396"/>
            <a:ext cx="524367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Subscription Problem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22457" y="2725738"/>
            <a:ext cx="5243679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Despite being offered a dedicated loyalty program,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subscribers account for just 27% of revenue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while representing 27% of the customer base — a near-perfect mismatch signaling structural issues.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322457" y="4084538"/>
            <a:ext cx="5243679" cy="992783"/>
          </a:xfrm>
          <a:prstGeom prst="roundRect">
            <a:avLst>
              <a:gd name="adj" fmla="val 7638"/>
            </a:avLst>
          </a:prstGeom>
          <a:solidFill>
            <a:srgbClr val="FCF2B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932" y="4355306"/>
            <a:ext cx="225618" cy="18047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09024" y="4292005"/>
            <a:ext cx="447663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Subscription model is underperforming — needs strategic redesign to deliver real value.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41040"/>
            <a:ext cx="10927878" cy="1150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Customer Segments: </a:t>
            </a:r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DA1B2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80%</a:t>
            </a:r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 Are Loyal Repeat Buyers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06877" y="3167162"/>
            <a:ext cx="2151306" cy="437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80%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841" y="2074069"/>
            <a:ext cx="2623576" cy="2623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1908" y="4910733"/>
            <a:ext cx="3501441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Loyal Customers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31908" y="5300067"/>
            <a:ext cx="3501441" cy="550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3,116 customers with 5+ purchases — the revenue backbone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020046" y="3167162"/>
            <a:ext cx="2151306" cy="437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18%</a:t>
            </a:r>
            <a:endParaRPr lang="en-US" sz="3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010" y="2074069"/>
            <a:ext cx="2623576" cy="262364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45077" y="4910733"/>
            <a:ext cx="3501441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Returning Customers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345077" y="5300067"/>
            <a:ext cx="3501441" cy="550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701 customers with 2–4 purchases — strong growth potential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733214" y="3167162"/>
            <a:ext cx="2151306" cy="437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2%</a:t>
            </a:r>
            <a:endParaRPr lang="en-US" sz="3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179" y="2074069"/>
            <a:ext cx="2623576" cy="262364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58246" y="4910733"/>
            <a:ext cx="3501541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New Customers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8058246" y="5300067"/>
            <a:ext cx="3501541" cy="550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83 first-time buyers — acquisition pipeline needs investment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27116" y="6041529"/>
            <a:ext cx="11537463" cy="275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highly retained base is a competitive asset — but the razor-thin 2% new customer rate signals acquisition risk over time.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506016"/>
            <a:ext cx="6355993" cy="1169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Top Performers: Gloves Lead with </a:t>
            </a:r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DA1B2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3.86★</a:t>
            </a:r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 Rating</a:t>
            </a:r>
            <a:endParaRPr lang="en-US" sz="3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1937544"/>
            <a:ext cx="6355993" cy="135483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04852" y="2134295"/>
            <a:ext cx="5886303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🥇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 Gloves — 3.86★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904852" y="2531467"/>
            <a:ext cx="5886303" cy="564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Category leader in quality perception, setting the benchmark for the entire product line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908" y="3467298"/>
            <a:ext cx="6355993" cy="135483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04852" y="3664049"/>
            <a:ext cx="5886303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🥈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 Sandals — 3.84★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904852" y="4061222"/>
            <a:ext cx="5886303" cy="564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Strong seasonal performer with consistently high customer satisfaction scores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1908" y="4997053"/>
            <a:ext cx="6355993" cy="13548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04852" y="5193804"/>
            <a:ext cx="5886303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🥉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 Boots — 3.82★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904852" y="5590977"/>
            <a:ext cx="5886303" cy="564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Reliable footwear anchor outperforming the 3.75★ portfolio average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02146"/>
            <a:ext cx="10927878" cy="118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Discount Dependency: </a:t>
            </a:r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DA1B2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50%</a:t>
            </a:r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 of Hat Sales Require Discounts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08" y="2163862"/>
            <a:ext cx="5812089" cy="39888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90867" y="2141240"/>
            <a:ext cx="467517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Pricing Pressure Alert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890867" y="2618581"/>
            <a:ext cx="4675170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Nearly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half of all sales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in these three categories depend on markdowns to close. This signals a value-perception gap — customers don't see full-price justification.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890867" y="3936702"/>
            <a:ext cx="4675170" cy="929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Indicates pricing pressure on these categories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Opportunity to improve margins through premium value positioning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609302"/>
            <a:ext cx="10927878" cy="118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Young Adults Lead Revenue: </a:t>
            </a:r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DA1B2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$62,143</a:t>
            </a:r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 from the 18–35 Age Group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08" y="2271018"/>
            <a:ext cx="5243679" cy="3774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22457" y="2248396"/>
            <a:ext cx="524367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Balanced Yet Tiered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22457" y="2725738"/>
            <a:ext cx="5243679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Revenue distribution is relatively even across age groups, but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Young Adults hold a clear edge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at 27% of total spend — making them the highest-priority segment for targeted growth.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322457" y="4043859"/>
            <a:ext cx="5243679" cy="1281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Young Adult: $62,143 — 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27%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of total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Middle-Aged: $59,197 — 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26%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of total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Adult &amp; Senior: ~24% each — stable, underserved segments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522684"/>
            <a:ext cx="6355993" cy="1670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Shipping Preference: Express Slightly Outperforms Standard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631908" y="2430859"/>
            <a:ext cx="6355993" cy="3201194"/>
          </a:xfrm>
          <a:prstGeom prst="roundRect">
            <a:avLst>
              <a:gd name="adj" fmla="val 2221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8258" y="2437209"/>
            <a:ext cx="6343293" cy="1594247"/>
          </a:xfrm>
          <a:custGeom>
            <a:avLst/>
            <a:gdLst/>
            <a:ahLst/>
            <a:cxnLst/>
            <a:rect l="l" t="t" r="r" b="b"/>
            <a:pathLst>
              <a:path w="6343293" h="1594247">
                <a:moveTo>
                  <a:pt x="59242" y="0"/>
                </a:moveTo>
                <a:lnTo>
                  <a:pt x="6284051" y="0"/>
                </a:lnTo>
                <a:arcTo hR="59244" wR="59242" stAng="16200000" swAng="5400000"/>
                <a:lnTo>
                  <a:pt x="6343293" y="1594247"/>
                </a:lnTo>
                <a:lnTo>
                  <a:pt x="0" y="1594247"/>
                </a:lnTo>
                <a:lnTo>
                  <a:pt x="0" y="59244"/>
                </a:lnTo>
                <a:arcTo hR="59244" wR="59242" stAng="10800000" swAng="5400000"/>
                <a:close/>
              </a:path>
            </a:pathLst>
          </a:custGeom>
          <a:solidFill>
            <a:srgbClr val="F9D2D6"/>
          </a:solidFill>
          <a:ln/>
        </p:spPr>
      </p:sp>
      <p:sp>
        <p:nvSpPr>
          <p:cNvPr id="6" name="Text 3"/>
          <p:cNvSpPr/>
          <p:nvPr/>
        </p:nvSpPr>
        <p:spPr>
          <a:xfrm>
            <a:off x="807521" y="2606477"/>
            <a:ext cx="6004767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 Express Shipping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07521" y="2980035"/>
            <a:ext cx="6004767" cy="882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9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$60</a:t>
            </a:r>
            <a:pPr algn="l" indent="0" marL="0">
              <a:lnSpc>
                <a:spcPct val="129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average purchase amount</a:t>
            </a:r>
            <a:endParaRPr lang="en-US" sz="13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Customers opting for speed are also spending more — a premium behavior signal worth monetizing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8258" y="4031456"/>
            <a:ext cx="6343293" cy="1594247"/>
          </a:xfrm>
          <a:custGeom>
            <a:avLst/>
            <a:gdLst/>
            <a:ahLst/>
            <a:cxnLst/>
            <a:rect l="l" t="t" r="r" b="b"/>
            <a:pathLst>
              <a:path w="6343293" h="1594247">
                <a:moveTo>
                  <a:pt x="0" y="0"/>
                </a:moveTo>
                <a:lnTo>
                  <a:pt x="6343293" y="0"/>
                </a:lnTo>
                <a:lnTo>
                  <a:pt x="6343293" y="1535003"/>
                </a:lnTo>
                <a:arcTo hR="59244" wR="59242" stAng="0" swAng="5400000"/>
                <a:lnTo>
                  <a:pt x="59242" y="1594247"/>
                </a:lnTo>
                <a:arcTo hR="59244" wR="59242" stAng="5400000" swAng="5400000"/>
                <a:lnTo>
                  <a:pt x="0" y="0"/>
                </a:lnTo>
                <a:close/>
              </a:path>
            </a:pathLst>
          </a:custGeom>
          <a:solidFill>
            <a:srgbClr val="F9D2D6"/>
          </a:solidFill>
          <a:ln/>
        </p:spPr>
      </p:sp>
      <p:sp>
        <p:nvSpPr>
          <p:cNvPr id="9" name="Shape 6"/>
          <p:cNvSpPr/>
          <p:nvPr/>
        </p:nvSpPr>
        <p:spPr>
          <a:xfrm>
            <a:off x="638258" y="4031456"/>
            <a:ext cx="6343293" cy="19050"/>
          </a:xfrm>
          <a:prstGeom prst="roundRect">
            <a:avLst>
              <a:gd name="adj" fmla="val 49999"/>
            </a:avLst>
          </a:prstGeom>
          <a:solidFill>
            <a:srgbClr val="DFB8BC"/>
          </a:solidFill>
          <a:ln/>
        </p:spPr>
      </p:sp>
      <p:sp>
        <p:nvSpPr>
          <p:cNvPr id="10" name="Text 7"/>
          <p:cNvSpPr/>
          <p:nvPr/>
        </p:nvSpPr>
        <p:spPr>
          <a:xfrm>
            <a:off x="807521" y="4200723"/>
            <a:ext cx="6004767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📦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 Standard Shipping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807521" y="4574282"/>
            <a:ext cx="6004767" cy="882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9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$58</a:t>
            </a:r>
            <a:pPr algn="l" indent="0" marL="0">
              <a:lnSpc>
                <a:spcPct val="129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average purchase amount</a:t>
            </a:r>
            <a:endParaRPr lang="en-US" sz="13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Reliable baseline but trailing express by a meaningful margin in basket value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31908" y="5810548"/>
            <a:ext cx="6355993" cy="524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Customers are willing to pay a premium for faster delivery — a lever that can be tied to higher-margin product promotions.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437084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Strategic Recommendations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31908" y="2392065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2480" y="2417018"/>
            <a:ext cx="285048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18574" y="2454077"/>
            <a:ext cx="476446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Expand Female Customer Acquisition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218574" y="2859187"/>
            <a:ext cx="4764464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With male customers driving 68% of revenue, female segments represent the single largest untapped growth opportunity in the portfolio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8656" y="2392065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9228" y="2417018"/>
            <a:ext cx="285048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795322" y="2454077"/>
            <a:ext cx="476446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Redesign the Subscription Model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795322" y="2859187"/>
            <a:ext cx="4764464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Non-subscribers outperform subscribers in total revenue — the current program fails to incentivize high-value behavior and needs a structural overhaul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1908" y="4087019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2480" y="4111972"/>
            <a:ext cx="285048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18574" y="4149030"/>
            <a:ext cx="476446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Break Discount Dependency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1218574" y="4554141"/>
            <a:ext cx="4764464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Hats, Coats, and Sneakers each require discounts on ~50% of sales — invest in premium positioning and storytelling to justify full-price purchases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08656" y="4087019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9228" y="4111972"/>
            <a:ext cx="285048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95322" y="4149030"/>
            <a:ext cx="476446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Activate the Young Adult Segment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795322" y="4554141"/>
            <a:ext cx="4764464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At 27% of total revenue, 18–35 year-olds are the top-spending cohort — targeted campaigns and product drops can accelerate their share further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2026-09-04T13:44:52Z</dcterms:created>
  <dcterms:modified xsi:type="dcterms:W3CDTF">2026-09-04T13:44:52Z</dcterms:modified>
</cp:coreProperties>
</file>